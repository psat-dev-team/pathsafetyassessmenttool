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4_0.xml" ContentType="application/vnd.ms-powerpoint.comment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s/modernComment_103_0.xml" ContentType="application/vnd.ms-powerpoint.comment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s/modernComment_105_0.xml" ContentType="application/vnd.ms-powerpoint.comments+xml"/>
  <Override PartName="/ppt/comments/modernComment_107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59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5EACA2-BD1E-AF4D-A750-5E0E21C8CEE8}" name="Puay Ping KOH (LTA)" initials="PK" userId="S::KOH_Puay_Ping@lta.gov.sg::76a24eb8-73a3-49f2-8e36-cebbe3342a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SG"/>
              <a:t>Overall Risk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35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0C-446D-B719-AD236F010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Top Contributing Attributes Across Project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Narrow Width</c:v>
                </c:pt>
                <c:pt idx="1">
                  <c:v>Obstacle</c:v>
                </c:pt>
                <c:pt idx="2">
                  <c:v>Slope</c:v>
                </c:pt>
                <c:pt idx="3">
                  <c:v>Surface</c:v>
                </c:pt>
                <c:pt idx="4">
                  <c:v>Visibility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C4-455D-8710-95D96376D4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SG"/>
              <a:t>Bicycle-Bicycle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35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F4-4332-90B0-97282C3AE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SG"/>
              <a:t>Bicycle-Pedestrian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45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CE-4A2A-91FD-ABE58A63FF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40E67D-7C9E-4759-9891-57B770A453E3}" authorId="{B25EACA2-BD1E-AF4D-A750-5E0E21C8CEE8}" created="2026-05-19T08:11:03.796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SG"/>
          <a:t>Link to Data analysis page and treatment page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D762F9-72A5-4BAF-BA7A-F8DB49871EFC}" authorId="{B25EACA2-BD1E-AF4D-A750-5E0E21C8CEE8}" created="2026-05-19T08:09:45.203">
    <pc:sldMkLst xmlns:pc="http://schemas.microsoft.com/office/powerpoint/2013/main/command">
      <pc:docMk/>
      <pc:sldMk cId="0" sldId="258"/>
    </pc:sldMkLst>
    <p188:replyLst>
      <p188:reply id="{5F05A4B7-2086-4ECD-A435-4B8236F5897E}" authorId="{B25EACA2-BD1E-AF4D-A750-5E0E21C8CEE8}" created="2026-05-19T08:10:08.303">
        <p188:txBody>
          <a:bodyPr/>
          <a:lstStyle/>
          <a:p>
            <a:r>
              <a:rPr lang="en-SG"/>
              <a:t>Purpose:</a:t>
            </a:r>
          </a:p>
        </p188:txBody>
      </p188:reply>
    </p188:replyLst>
    <p188:txBody>
      <a:bodyPr/>
      <a:lstStyle/>
      <a:p>
        <a:r>
          <a:rPr lang="en-SG"/>
          <a:t>OIC in-charge</a:t>
        </a:r>
      </a:p>
    </p188:txBody>
  </p188:cm>
  <p188:cm id="{B1A372BB-5DDE-4A61-AD40-8798E8BC533B}" authorId="{B25EACA2-BD1E-AF4D-A750-5E0E21C8CEE8}" created="2026-05-19T08:11:53.035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SG"/>
          <a:t>Check list for users to select the type of report to include</a:t>
        </a:r>
      </a:p>
    </p188:txBody>
  </p188:cm>
  <p188:cm id="{F003D695-DDE6-411B-B352-CCF603617589}" authorId="{B25EACA2-BD1E-AF4D-A750-5E0E21C8CEE8}" created="2026-05-19T08:12:46.56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4" creationId="{00000000-0000-0000-0000-000000000000}"/>
    </ac:deMkLst>
    <p188:txBody>
      <a:bodyPr/>
      <a:lstStyle/>
      <a:p>
        <a:r>
          <a:rPr lang="en-SG"/>
          <a:t>Auto zoom to the extent to include all projects chosen (by default)</a:t>
        </a:r>
      </a:p>
    </p188:txBody>
  </p188:cm>
  <p188:cm id="{9B678BA3-4EFE-4D1C-815F-4D2279BA0272}" authorId="{B25EACA2-BD1E-AF4D-A750-5E0E21C8CEE8}" created="2026-05-19T08:13:35.3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3" creationId="{00000000-0000-0000-0000-000000000000}"/>
    </ac:deMkLst>
    <p188:txBody>
      <a:bodyPr/>
      <a:lstStyle/>
      <a:p>
        <a:r>
          <a:rPr lang="en-SG"/>
          <a:t>Editable fields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41D5B8-15AA-4A09-8493-69FBCBA278FB}" authorId="{B25EACA2-BD1E-AF4D-A750-5E0E21C8CEE8}" created="2026-05-19T08:05:42.290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SG"/>
          <a:t>There should be 4 crash types shown here?</a:t>
        </a:r>
      </a:p>
    </p188:txBody>
  </p188:cm>
  <p188:cm id="{79CEB475-6E80-4F0F-8955-C6BC330CCA27}" authorId="{B25EACA2-BD1E-AF4D-A750-5E0E21C8CEE8}" created="2026-05-19T08:05:57.2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4" creationId="{00000000-0000-0000-0000-000000000000}"/>
    </ac:deMkLst>
    <p188:replyLst>
      <p188:reply id="{E4951DC6-8C10-443F-AF0E-99E9D84F8430}" authorId="{B25EACA2-BD1E-AF4D-A750-5E0E21C8CEE8}" created="2026-05-19T08:16:45.527">
        <p188:txBody>
          <a:bodyPr/>
          <a:lstStyle/>
          <a:p>
            <a:r>
              <a:rPr lang="en-SG"/>
              <a:t>Are you going to show 4 maps?</a:t>
            </a:r>
          </a:p>
        </p188:txBody>
      </p188:reply>
    </p188:replyLst>
    <p188:txBody>
      <a:bodyPr/>
      <a:lstStyle/>
      <a:p>
        <a:r>
          <a:rPr lang="en-SG"/>
          <a:t>What is the difference between this map and the previous one?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F8F8B2-7F5E-4FE2-9945-FB5037538A6F}" authorId="{B25EACA2-BD1E-AF4D-A750-5E0E21C8CEE8}" created="2026-05-19T08:06:14.001">
    <pc:sldMkLst xmlns:pc="http://schemas.microsoft.com/office/powerpoint/2013/main/command">
      <pc:docMk/>
      <pc:sldMk cId="0" sldId="260"/>
    </pc:sldMkLst>
    <p188:replyLst>
      <p188:reply id="{DA7F75CE-5411-4C4F-8257-70D7E1ECDE74}" authorId="{B25EACA2-BD1E-AF4D-A750-5E0E21C8CEE8}" created="2026-05-19T08:06:31.025">
        <p188:txBody>
          <a:bodyPr/>
          <a:lstStyle/>
          <a:p>
            <a:r>
              <a:rPr lang="en-SG"/>
              <a:t>What is the y axis of the bar chart?</a:t>
            </a:r>
          </a:p>
        </p188:txBody>
      </p188:reply>
    </p188:replyLst>
    <p188:txBody>
      <a:bodyPr/>
      <a:lstStyle/>
      <a:p>
        <a:r>
          <a:rPr lang="en-SG"/>
          <a:t>This part should go before the crash type page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ABC2A8-7B83-40BB-A3F1-2889BBF1ED23}" authorId="{B25EACA2-BD1E-AF4D-A750-5E0E21C8CEE8}" created="2026-05-19T08:17:11.013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SG"/>
          <a:t>To allow user to choose Top XX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951EF2-349E-4E3E-B0B7-5BBF6DD70B15}" authorId="{B25EACA2-BD1E-AF4D-A750-5E0E21C8CEE8}" created="2026-05-19T08:19:26.995">
    <pc:sldMkLst xmlns:pc="http://schemas.microsoft.com/office/powerpoint/2013/main/command">
      <pc:docMk/>
      <pc:sldMk cId="0" sldId="263"/>
    </pc:sldMkLst>
    <p188:txBody>
      <a:bodyPr/>
      <a:lstStyle/>
      <a:p>
        <a:r>
          <a:rPr lang="en-SG"/>
          <a:t>Before-after treatments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PSAT </a:t>
            </a:r>
            <a:r>
              <a:rPr lang="en-SG" dirty="0"/>
              <a:t>Draft </a:t>
            </a:r>
            <a:r>
              <a:rPr dirty="0"/>
              <a:t>Generation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UI Mockup: How Users Will Generate The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43989" y="1371600"/>
            <a:ext cx="7772400" cy="4572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45720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6459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PSAT Menu</a:t>
            </a:r>
          </a:p>
          <a:p>
            <a:endParaRPr/>
          </a:p>
          <a:p>
            <a:r>
              <a:t>- Dashboard</a:t>
            </a:r>
          </a:p>
          <a:p>
            <a:r>
              <a:t>- GIS Layers</a:t>
            </a:r>
          </a:p>
          <a:p>
            <a:r>
              <a:t>- Projects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29200"/>
            <a:ext cx="1645920" cy="54864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📄 Generate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Project: Central District Cycle Path</a:t>
            </a:r>
          </a:p>
          <a:p>
            <a:r>
              <a:rPr dirty="0"/>
              <a:t>Overall Status: Completed</a:t>
            </a:r>
          </a:p>
          <a:p>
            <a:endParaRPr dirty="0"/>
          </a:p>
          <a:p>
            <a:r>
              <a:rPr dirty="0"/>
              <a:t>(Map and Project Details loaded here...)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89909" y="5120640"/>
            <a:ext cx="1371600" cy="365760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48298" y="4719954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dirty="0"/>
              <a:t>User Journey:</a:t>
            </a:r>
          </a:p>
          <a:p>
            <a:r>
              <a:rPr dirty="0"/>
              <a:t>1. User views completed project.</a:t>
            </a:r>
          </a:p>
          <a:p>
            <a:r>
              <a:rPr dirty="0"/>
              <a:t>2. Clicks 'Generate Report' in sidebar.</a:t>
            </a:r>
          </a:p>
          <a:p>
            <a:r>
              <a:rPr dirty="0"/>
              <a:t>3. System complies the Word Doc/PPTX.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1: Project Overview &amp; Map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rPr dirty="0"/>
              <a:t>Project Details</a:t>
            </a:r>
          </a:p>
          <a:p>
            <a:pPr>
              <a:defRPr sz="1800"/>
            </a:pPr>
            <a:r>
              <a:rPr dirty="0"/>
              <a:t>Project Name: Central District</a:t>
            </a:r>
          </a:p>
          <a:p>
            <a:pPr>
              <a:defRPr sz="1800"/>
            </a:pPr>
            <a:r>
              <a:rPr dirty="0"/>
              <a:t>Segments: 45</a:t>
            </a:r>
          </a:p>
          <a:p>
            <a:pPr>
              <a:defRPr sz="1800"/>
            </a:pPr>
            <a:r>
              <a:rPr dirty="0"/>
              <a:t>Length: 12.5 km</a:t>
            </a:r>
          </a:p>
          <a:p>
            <a:pPr>
              <a:defRPr sz="1800"/>
            </a:pPr>
            <a:r>
              <a:rPr dirty="0"/>
              <a:t>Survey: Oct 12, 2025</a:t>
            </a:r>
          </a:p>
          <a:p>
            <a:pPr>
              <a:defRPr sz="1800"/>
            </a:pPr>
            <a:r>
              <a:rPr dirty="0"/>
              <a:t>Analysis: Oct 15,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 Map Location Image Placeholder ]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7: Infographic / Data Callout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45</a:t>
            </a:r>
          </a:p>
          <a:p>
            <a:pPr algn="ctr"/>
            <a:r>
              <a:t>Segments Analyzed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t>12.5 km</a:t>
            </a:r>
          </a:p>
          <a:p>
            <a:pPr algn="ctr"/>
            <a:r>
              <a:t>Total Facility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0000"/>
                </a:solidFill>
              </a:defRPr>
            </a:pPr>
            <a:r>
              <a:t>34%</a:t>
            </a:r>
          </a:p>
          <a:p>
            <a:pPr algn="ctr"/>
            <a:r>
              <a:t>High Risk Corridors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 Integrated Map with Heatmap Overlay Placeholder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3: Deep-Dive Risk Analytics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2: Combined Executive Summary (One-Pager)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Central District Project</a:t>
            </a:r>
          </a:p>
          <a:p>
            <a:r>
              <a:t>Segments: 45 | 12.5 km</a:t>
            </a:r>
          </a:p>
          <a:p>
            <a:r>
              <a:t>Analyzed: Oct 15,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50292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 Wide Map Image Overview ]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411480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0" y="411480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4: Top Risk Stretches (List 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3716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#1 High Risk Stretch - Score: 4.5</a:t>
            </a:r>
          </a:p>
          <a:p>
            <a:r>
              <a:t>Attributes: 1. Narrow Width | 2. Obstacle | 3. Slope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30175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#2 High Risk Stretch - Score: 4.5</a:t>
            </a:r>
          </a:p>
          <a:p>
            <a:r>
              <a:t>Attributes: 1. Narrow Width | 2. Obstacle | 3. Slope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66344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#3 High Risk Stretch - Score: 4.5</a:t>
            </a:r>
          </a:p>
          <a:p>
            <a:r>
              <a:t>Attributes: 1. Narrow Width | 2. Obstacle | 3. Slope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5: Top Risk Stretches (Grid 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3774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#1 Score: 4.5</a:t>
            </a:r>
          </a:p>
          <a:p>
            <a:pPr>
              <a:defRPr sz="1200"/>
            </a:pPr>
            <a:r>
              <a:t>- Narrow Width</a:t>
            </a:r>
            <a:br/>
            <a:r>
              <a:t>- Obstacle</a:t>
            </a:r>
            <a:br/>
            <a:r>
              <a:t>- Slope: 8%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7432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0" y="1554480"/>
            <a:ext cx="23774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688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#2 Score: 4.5</a:t>
            </a:r>
          </a:p>
          <a:p>
            <a:pPr>
              <a:defRPr sz="1200"/>
            </a:pPr>
            <a:r>
              <a:t>- Narrow Width</a:t>
            </a:r>
            <a:br/>
            <a:r>
              <a:t>- Obstacle</a:t>
            </a:r>
            <a:br/>
            <a:r>
              <a:t>- Slope: 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27432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75120" y="1554480"/>
            <a:ext cx="23774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#3 Score: 4.5</a:t>
            </a:r>
          </a:p>
          <a:p>
            <a:pPr>
              <a:defRPr sz="1200"/>
            </a:pPr>
            <a:r>
              <a:t>- Narrow Width</a:t>
            </a:r>
            <a:br/>
            <a:r>
              <a:t>- Obstacle</a:t>
            </a:r>
            <a:br/>
            <a:r>
              <a:t>- Slope: 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27432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23774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#4 Score: 4.5</a:t>
            </a:r>
          </a:p>
          <a:p>
            <a:pPr>
              <a:defRPr sz="1200"/>
            </a:pPr>
            <a:r>
              <a:t>- Narrow Width</a:t>
            </a:r>
            <a:br/>
            <a:r>
              <a:t>- Obstacle</a:t>
            </a:r>
            <a:br/>
            <a:r>
              <a:t>- Slope: 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114800"/>
            <a:ext cx="27432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0" y="4297680"/>
            <a:ext cx="23774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2120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#5 Score: 4.5</a:t>
            </a:r>
          </a:p>
          <a:p>
            <a:pPr>
              <a:defRPr sz="1200"/>
            </a:pPr>
            <a:r>
              <a:t>- Narrow Width</a:t>
            </a:r>
            <a:br/>
            <a:r>
              <a:t>- Obstacle</a:t>
            </a:r>
            <a:br/>
            <a:r>
              <a:t>- Slope: 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4114800"/>
            <a:ext cx="27432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75120" y="4297680"/>
            <a:ext cx="237744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Img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0000"/>
                </a:solidFill>
              </a:defRPr>
            </a:pPr>
            <a:r>
              <a:t>#6 Score: 4.5</a:t>
            </a:r>
          </a:p>
          <a:p>
            <a:pPr>
              <a:defRPr sz="1200"/>
            </a:pPr>
            <a:r>
              <a:t>- Narrow Width</a:t>
            </a:r>
            <a:br/>
            <a:r>
              <a:t>- Obstacle</a:t>
            </a:r>
            <a:br/>
            <a:r>
              <a:t>- Slope: 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Concept 6: Top Risk Stretches (Tabular View)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Top 3 Contributing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 Image Placeholder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High (4.5)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 Narrow Width</a:t>
                      </a:r>
                    </a:p>
                    <a:p>
                      <a:r>
                        <a:t>2. Obstacle</a:t>
                      </a:r>
                    </a:p>
                    <a:p>
                      <a:r>
                        <a:t>3. 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 Image Placeholder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High (4.5)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 Narrow Width</a:t>
                      </a:r>
                    </a:p>
                    <a:p>
                      <a:r>
                        <a:t>2. Obstacle</a:t>
                      </a:r>
                    </a:p>
                    <a:p>
                      <a:r>
                        <a:t>3. 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 Image Placeholder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High (4.5)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 Narrow Width</a:t>
                      </a:r>
                    </a:p>
                    <a:p>
                      <a:r>
                        <a:t>2. Obstacle</a:t>
                      </a:r>
                    </a:p>
                    <a:p>
                      <a:r>
                        <a:t>3. 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 Image Placeholder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High (4.5)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 Narrow Width</a:t>
                      </a:r>
                    </a:p>
                    <a:p>
                      <a:r>
                        <a:t>2. Obstacle</a:t>
                      </a:r>
                    </a:p>
                    <a:p>
                      <a:r>
                        <a:t>3. 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 Image Placeholder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High (4.5)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 Narrow Width</a:t>
                      </a:r>
                    </a:p>
                    <a:p>
                      <a:r>
                        <a:t>2. Obstacle</a:t>
                      </a:r>
                    </a:p>
                    <a:p>
                      <a:r>
                        <a:t>3. 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517</Words>
  <Application>Microsoft Office PowerPoint</Application>
  <PresentationFormat>On-screen Show (4:3)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PSAT Draft Generation Report</vt:lpstr>
      <vt:lpstr>UI Mockup: How Users Will Generate The Report</vt:lpstr>
      <vt:lpstr>Concept 1: Project Overview &amp; Map Location</vt:lpstr>
      <vt:lpstr>Concept 7: Infographic / Data Callout Style</vt:lpstr>
      <vt:lpstr>Concept 3: Deep-Dive Risk Analytics</vt:lpstr>
      <vt:lpstr>Concept 2: Combined Executive Summary (One-Pager)</vt:lpstr>
      <vt:lpstr>Concept 4: Top Risk Stretches (List View)</vt:lpstr>
      <vt:lpstr>Concept 5: Top Risk Stretches (Grid View)</vt:lpstr>
      <vt:lpstr>Concept 6: Top Risk Stretches (Tabular View)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 XIN YU ZACHARY</dc:creator>
  <cp:keywords/>
  <dc:description>generated using python-pptx</dc:description>
  <cp:lastModifiedBy>TAN XIN YU ZACHARY</cp:lastModifiedBy>
  <cp:revision>4</cp:revision>
  <dcterms:created xsi:type="dcterms:W3CDTF">2013-01-27T09:14:16Z</dcterms:created>
  <dcterms:modified xsi:type="dcterms:W3CDTF">2026-05-21T15:56:35Z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803508-8490-4252-b331-d9b72689e942_Enabled">
    <vt:lpwstr>true</vt:lpwstr>
  </property>
  <property fmtid="{D5CDD505-2E9C-101B-9397-08002B2CF9AE}" pid="3" name="MSIP_Label_54803508-8490-4252-b331-d9b72689e942_SetDate">
    <vt:lpwstr>2026-05-19T08:03:44Z</vt:lpwstr>
  </property>
  <property fmtid="{D5CDD505-2E9C-101B-9397-08002B2CF9AE}" pid="4" name="MSIP_Label_54803508-8490-4252-b331-d9b72689e942_Method">
    <vt:lpwstr>Privileged</vt:lpwstr>
  </property>
  <property fmtid="{D5CDD505-2E9C-101B-9397-08002B2CF9AE}" pid="5" name="MSIP_Label_54803508-8490-4252-b331-d9b72689e942_Name">
    <vt:lpwstr>Non Sensitive_0</vt:lpwstr>
  </property>
  <property fmtid="{D5CDD505-2E9C-101B-9397-08002B2CF9AE}" pid="6" name="MSIP_Label_54803508-8490-4252-b331-d9b72689e942_SiteId">
    <vt:lpwstr>0b11c524-9a1c-4e1b-84cb-6336aefc2243</vt:lpwstr>
  </property>
  <property fmtid="{D5CDD505-2E9C-101B-9397-08002B2CF9AE}" pid="7" name="MSIP_Label_54803508-8490-4252-b331-d9b72689e942_ActionId">
    <vt:lpwstr>782a6a6f-b5c9-4e1d-a0c5-e6f0229aafc1</vt:lpwstr>
  </property>
  <property fmtid="{D5CDD505-2E9C-101B-9397-08002B2CF9AE}" pid="8" name="MSIP_Label_54803508-8490-4252-b331-d9b72689e942_ContentBits">
    <vt:lpwstr>0</vt:lpwstr>
  </property>
  <property fmtid="{D5CDD505-2E9C-101B-9397-08002B2CF9AE}" pid="9" name="MSIP_Label_54803508-8490-4252-b331-d9b72689e942_Tag">
    <vt:lpwstr>10, 0, 1, 1</vt:lpwstr>
  </property>
</Properties>
</file>